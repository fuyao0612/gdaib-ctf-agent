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4" d="100"/>
          <a:sy n="34" d="100"/>
        </p:scale>
        <p:origin x="780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C858DD-D9A8-4223-249A-338E692F73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2824E59-3F0B-DD80-9CB8-E206DB0AEE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DA1B27C-C247-CDB1-4CB6-35C006DC10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86F46-09AC-4C45-9CBB-696853B6A77C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CD07508-AD15-CD3C-C194-85C9CD3A0B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2AC032B-89BF-4848-5260-C07A1581E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6C6F9-AC52-470D-9729-16F51359342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2811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E1A745-9D9E-1675-E116-E90B159D9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C50C1AB-3C6D-7241-5CF0-FC1F8A7DA9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0F0A0C6-9054-6C16-64FB-654F647773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86F46-09AC-4C45-9CBB-696853B6A77C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43661E4-F51F-4FA5-0930-2110A3745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26CD18D-A599-E780-3924-5202E84FE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6C6F9-AC52-470D-9729-16F51359342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7168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B4CE91-42F3-C98A-4CF9-063AE626B7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0BA91A5-8681-E1B6-F5BF-EB1D79214E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9C3DF94-22C7-29CD-999F-47FA820C0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86F46-09AC-4C45-9CBB-696853B6A77C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C5464AC-0B47-49D7-0327-65519A4AE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61186CD-B894-413E-309B-32D0BA7FF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6C6F9-AC52-470D-9729-16F51359342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9167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EFF2FA-9838-41C1-C2B8-0FE7DF78F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26FBA76-ADD5-3D28-9230-7534DE75C1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94E49EE-666A-4688-C458-2252125EC9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9A1D7D1-BE67-2744-86F5-E87C60B3A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86F46-09AC-4C45-9CBB-696853B6A77C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77A59F4-B7E2-12AE-F5AC-1D8C5968D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3116134-4CE4-DAFC-63A0-3F6BC49211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6C6F9-AC52-470D-9729-16F51359342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9417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531BEC-F739-5078-B8DF-C0CE8CAF8E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6BD6932-8A67-CFD7-E09A-FD9FEA3E2D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40A256A-9C25-7A4B-483A-4DB76BC387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C425A74-E11B-D874-0B2C-07B94516A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A8DA517A-9ECF-C43E-1A30-2DCE18348A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B0E22F4-ADD9-40D8-7CE7-AA51D3124B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86F46-09AC-4C45-9CBB-696853B6A77C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91170EB-8C9D-226E-C391-AC95D48A3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967C24D-C85A-B5A6-0756-0514218F6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6C6F9-AC52-470D-9729-16F51359342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446837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D828CB-36DB-08A2-BAEB-EEA923CD6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F195317-6BDF-2C03-2B78-B801A22EC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86F46-09AC-4C45-9CBB-696853B6A77C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3B14CB18-8483-3E2E-610D-0DC5A367D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3CB59B4-7DC7-9722-1BDB-1D294F83E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6C6F9-AC52-470D-9729-16F51359342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7241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CCAFF5E1-8194-623A-C9E8-5C3C1811BD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86F46-09AC-4C45-9CBB-696853B6A77C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885BBAF-B4D3-5353-6B89-D0406D452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0908850-CDD5-227C-EAE2-FBA7C97FD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6C6F9-AC52-470D-9729-16F51359342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32267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44D96E-C64F-860D-028A-68661BA72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38FA9F6-9804-6398-40E0-378ADA476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96C3062-9A49-4943-9FBE-1F5E81745C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532D6F0-31AC-EF29-2658-5BA4346C3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86F46-09AC-4C45-9CBB-696853B6A77C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72E6600-8471-6EBD-B2E1-50BDE6A43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C061B7B-6F66-2CDF-E0C5-F4EFDA368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6C6F9-AC52-470D-9729-16F51359342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94535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45AA0D-1F10-20D5-EB3C-647406E3A7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9F16F79-185D-3C9E-6FFF-D975C921D4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2F3491F-2A30-B4AF-625F-245992A2E2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C334181-6B1F-A71A-936D-B466C7AB71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86F46-09AC-4C45-9CBB-696853B6A77C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617CAE4-2261-EDDC-5F2D-38D9A0DA75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8ED3FD4-FD37-7A92-EDBC-23B3D2F41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6C6F9-AC52-470D-9729-16F51359342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59993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AF28FB-E3A1-7898-06E7-14386BA7B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BFC3F0C-BF23-1822-5479-63D77DC422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6AD3F95-8DAA-70C4-07D3-A143D17ED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86F46-09AC-4C45-9CBB-696853B6A77C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36B89E3-1ACE-3D04-9560-3DC3613724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3A9CF63-0EFD-994B-2CCE-24371CE84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6C6F9-AC52-470D-9729-16F51359342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093744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02ADA1C7-D1C8-7BE5-BFE9-91092924DD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DE71A1A-FFEC-C9FC-6EAA-168BF4E8D9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D894C3B-D6CB-7895-7D86-B6BFEE6CE6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86F46-09AC-4C45-9CBB-696853B6A77C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33D8EA8-A51B-DDD4-0CAE-D933B5F15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F436018-74FA-6C40-F126-E3D756927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6C6F9-AC52-470D-9729-16F51359342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13534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D11B7AF-26DA-1392-FF73-B28C36D2F3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D8E5D54-63F0-CC35-EBA5-ED320D0060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3E5FF49-A755-DDB5-2C6A-8B8E749B82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686F46-09AC-4C45-9CBB-696853B6A77C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68E1FC-8D5F-69F6-2F7D-D33638CBBC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9E48D72-F381-FBC4-1F03-35F8DC40A0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96C6F9-AC52-470D-9729-16F51359342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6102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4AF7DB65-E30A-5B03-9C61-426B8E88D9F7}"/>
              </a:ext>
            </a:extLst>
          </p:cNvPr>
          <p:cNvSpPr/>
          <p:nvPr/>
        </p:nvSpPr>
        <p:spPr>
          <a:xfrm>
            <a:off x="0" y="0"/>
            <a:ext cx="12192000" cy="2286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32B5B00-BB45-3E9B-E3FA-6403C3AB27D7}"/>
              </a:ext>
            </a:extLst>
          </p:cNvPr>
          <p:cNvSpPr txBox="1"/>
          <p:nvPr/>
        </p:nvSpPr>
        <p:spPr>
          <a:xfrm>
            <a:off x="762000" y="533400"/>
            <a:ext cx="10668000" cy="53860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御网智元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2545109-99AF-320B-E1AD-E978A2DA3A28}"/>
              </a:ext>
            </a:extLst>
          </p:cNvPr>
          <p:cNvSpPr txBox="1"/>
          <p:nvPr/>
        </p:nvSpPr>
        <p:spPr>
          <a:xfrm>
            <a:off x="825500" y="1676400"/>
            <a:ext cx="6350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可审计的通用网络安全智能体</a:t>
            </a:r>
          </a:p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初审冲刺材料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仅授权附件与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localhost</a:t>
            </a:r>
            <a:endParaRPr lang="zh-CN" altLang="en-US">
              <a:solidFill>
                <a:srgbClr val="323232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0C829C4-D2AB-8BD5-0EBF-9BC4F353DD2C}"/>
              </a:ext>
            </a:extLst>
          </p:cNvPr>
          <p:cNvSpPr/>
          <p:nvPr/>
        </p:nvSpPr>
        <p:spPr>
          <a:xfrm>
            <a:off x="762000" y="5943600"/>
            <a:ext cx="10668000" cy="254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138B27E-F869-F46D-9123-7D1C32752981}"/>
              </a:ext>
            </a:extLst>
          </p:cNvPr>
          <p:cNvSpPr txBox="1"/>
          <p:nvPr/>
        </p:nvSpPr>
        <p:spPr>
          <a:xfrm>
            <a:off x="825500" y="6159500"/>
            <a:ext cx="10414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证据：技术报告；官方赛题资料（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2026-08-28</a:t>
            </a:r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）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02EEE8D-AFA7-F20F-037C-A9BB580CAE9B}"/>
              </a:ext>
            </a:extLst>
          </p:cNvPr>
          <p:cNvSpPr txBox="1"/>
          <p:nvPr/>
        </p:nvSpPr>
        <p:spPr>
          <a:xfrm>
            <a:off x="825500" y="6667500"/>
            <a:ext cx="10414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御网智元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</a:t>
            </a:r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初审答辩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1/15</a:t>
            </a:r>
            <a:endParaRPr lang="zh-CN" altLang="en-US" sz="1000">
              <a:solidFill>
                <a:srgbClr val="545454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45064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722C2FAB-F06D-64EC-D09C-A12378F0A013}"/>
              </a:ext>
            </a:extLst>
          </p:cNvPr>
          <p:cNvSpPr/>
          <p:nvPr/>
        </p:nvSpPr>
        <p:spPr>
          <a:xfrm>
            <a:off x="0" y="0"/>
            <a:ext cx="12192000" cy="2286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60FADBF-C8C7-8837-E830-785E011015ED}"/>
              </a:ext>
            </a:extLst>
          </p:cNvPr>
          <p:cNvSpPr txBox="1"/>
          <p:nvPr/>
        </p:nvSpPr>
        <p:spPr>
          <a:xfrm>
            <a:off x="762000" y="533400"/>
            <a:ext cx="10668000" cy="53860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初审回答的问题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3CA64E1-78E1-51DC-2C98-87DBCD97FB36}"/>
              </a:ext>
            </a:extLst>
          </p:cNvPr>
          <p:cNvSpPr txBox="1"/>
          <p:nvPr/>
        </p:nvSpPr>
        <p:spPr>
          <a:xfrm>
            <a:off x="825500" y="1676400"/>
            <a:ext cx="6350000" cy="92333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复杂任务如何自主规划？</a:t>
            </a:r>
          </a:p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如何约束工具与授权？</a:t>
            </a:r>
          </a:p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如何证明成功不是模型自述？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CF165A0-A30A-17B2-1854-7851DD01236D}"/>
              </a:ext>
            </a:extLst>
          </p:cNvPr>
          <p:cNvSpPr/>
          <p:nvPr/>
        </p:nvSpPr>
        <p:spPr>
          <a:xfrm>
            <a:off x="762000" y="5943600"/>
            <a:ext cx="10668000" cy="254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6D25F11-3603-55EC-6C9A-4850C4E77B38}"/>
              </a:ext>
            </a:extLst>
          </p:cNvPr>
          <p:cNvSpPr txBox="1"/>
          <p:nvPr/>
        </p:nvSpPr>
        <p:spPr>
          <a:xfrm>
            <a:off x="825500" y="6159500"/>
            <a:ext cx="10414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证据：官方五维评分口径；差距矩阵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2083356-FF51-A9E8-062F-B30D2DBF5121}"/>
              </a:ext>
            </a:extLst>
          </p:cNvPr>
          <p:cNvSpPr txBox="1"/>
          <p:nvPr/>
        </p:nvSpPr>
        <p:spPr>
          <a:xfrm>
            <a:off x="825500" y="6667500"/>
            <a:ext cx="10414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御网智元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</a:t>
            </a:r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初审答辩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2/15</a:t>
            </a:r>
            <a:endParaRPr lang="zh-CN" altLang="en-US" sz="1000">
              <a:solidFill>
                <a:srgbClr val="545454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84277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469ADC2C-822C-5C3E-B770-33F5CF8247BA}"/>
              </a:ext>
            </a:extLst>
          </p:cNvPr>
          <p:cNvSpPr/>
          <p:nvPr/>
        </p:nvSpPr>
        <p:spPr>
          <a:xfrm>
            <a:off x="0" y="0"/>
            <a:ext cx="12192000" cy="2286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7397781-83CE-50CC-26C2-0CEE496DC20A}"/>
              </a:ext>
            </a:extLst>
          </p:cNvPr>
          <p:cNvSpPr txBox="1"/>
          <p:nvPr/>
        </p:nvSpPr>
        <p:spPr>
          <a:xfrm>
            <a:off x="762000" y="533400"/>
            <a:ext cx="10668000" cy="53860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可审计闭环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F643274-0023-7810-5417-EC5F94D346D8}"/>
              </a:ext>
            </a:extLst>
          </p:cNvPr>
          <p:cNvSpPr txBox="1"/>
          <p:nvPr/>
        </p:nvSpPr>
        <p:spPr>
          <a:xfrm>
            <a:off x="825500" y="1676400"/>
            <a:ext cx="6350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正式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HTTP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消息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-&gt; Run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快照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-&gt; AgentEngine -&gt;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受控工具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-&gt; Artifact/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事件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-&gt;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独立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Judge</a:t>
            </a:r>
            <a:endParaRPr lang="zh-CN" altLang="en-US">
              <a:solidFill>
                <a:srgbClr val="323232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D2223DD-1272-DBC3-66DD-67400831DBF2}"/>
              </a:ext>
            </a:extLst>
          </p:cNvPr>
          <p:cNvSpPr/>
          <p:nvPr/>
        </p:nvSpPr>
        <p:spPr>
          <a:xfrm>
            <a:off x="762000" y="5943600"/>
            <a:ext cx="10668000" cy="254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FBA5E9C-28EE-E1D6-BF68-CE4AB50A9648}"/>
              </a:ext>
            </a:extLst>
          </p:cNvPr>
          <p:cNvSpPr txBox="1"/>
          <p:nvPr/>
        </p:nvSpPr>
        <p:spPr>
          <a:xfrm>
            <a:off x="825500" y="6159500"/>
            <a:ext cx="10414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证据：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FastAPI</a:t>
            </a:r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、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SQLite</a:t>
            </a:r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、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ToolSpec/Registry/Executor</a:t>
            </a:r>
            <a:endParaRPr lang="zh-CN" altLang="en-US" sz="1100">
              <a:solidFill>
                <a:srgbClr val="545454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A39E495-B72F-6B63-F42E-F1EC74CB84F7}"/>
              </a:ext>
            </a:extLst>
          </p:cNvPr>
          <p:cNvSpPr txBox="1"/>
          <p:nvPr/>
        </p:nvSpPr>
        <p:spPr>
          <a:xfrm>
            <a:off x="825500" y="6667500"/>
            <a:ext cx="10414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御网智元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</a:t>
            </a:r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初审答辩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3/15</a:t>
            </a:r>
            <a:endParaRPr lang="zh-CN" altLang="en-US" sz="1000">
              <a:solidFill>
                <a:srgbClr val="545454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19947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AF83B444-4118-0755-F5FE-2F8139A7CA0C}"/>
              </a:ext>
            </a:extLst>
          </p:cNvPr>
          <p:cNvSpPr/>
          <p:nvPr/>
        </p:nvSpPr>
        <p:spPr>
          <a:xfrm>
            <a:off x="0" y="0"/>
            <a:ext cx="12192000" cy="2286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DAC3E42-E77E-2B27-1FBC-772298C25C31}"/>
              </a:ext>
            </a:extLst>
          </p:cNvPr>
          <p:cNvSpPr txBox="1"/>
          <p:nvPr/>
        </p:nvSpPr>
        <p:spPr>
          <a:xfrm>
            <a:off x="762000" y="533400"/>
            <a:ext cx="10668000" cy="53860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不可变 </a:t>
            </a:r>
            <a:r>
              <a:rPr lang="en-US" altLang="zh-CN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Run </a:t>
            </a:r>
            <a:r>
              <a:rPr lang="zh-CN" altLang="en-US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快照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0F73858-9D53-0AD5-F6B8-2660AF8E77E2}"/>
              </a:ext>
            </a:extLst>
          </p:cNvPr>
          <p:cNvSpPr txBox="1"/>
          <p:nvPr/>
        </p:nvSpPr>
        <p:spPr>
          <a:xfrm>
            <a:off x="825500" y="1676400"/>
            <a:ext cx="6350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冻结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Provider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、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Agent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、授权、工具、目标和附件。</a:t>
            </a:r>
          </a:p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轨迹、报告与评测索引关联同一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Run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3093056-0AD7-1901-232F-0460B2BFFAE2}"/>
              </a:ext>
            </a:extLst>
          </p:cNvPr>
          <p:cNvSpPr/>
          <p:nvPr/>
        </p:nvSpPr>
        <p:spPr>
          <a:xfrm>
            <a:off x="762000" y="5943600"/>
            <a:ext cx="10668000" cy="254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A1E66C3-20D2-A555-9279-0896E5E53B9C}"/>
              </a:ext>
            </a:extLst>
          </p:cNvPr>
          <p:cNvSpPr txBox="1"/>
          <p:nvPr/>
        </p:nvSpPr>
        <p:spPr>
          <a:xfrm>
            <a:off x="825500" y="6159500"/>
            <a:ext cx="10414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证据：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TaskSpec</a:t>
            </a:r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、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Run</a:t>
            </a:r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、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Artifact</a:t>
            </a:r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、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ExecutionStep</a:t>
            </a:r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、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Evidence</a:t>
            </a:r>
            <a:endParaRPr lang="zh-CN" altLang="en-US" sz="1100">
              <a:solidFill>
                <a:srgbClr val="545454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F2DEBF5-BBA4-51C7-1808-C518424A6433}"/>
              </a:ext>
            </a:extLst>
          </p:cNvPr>
          <p:cNvSpPr txBox="1"/>
          <p:nvPr/>
        </p:nvSpPr>
        <p:spPr>
          <a:xfrm>
            <a:off x="825500" y="6667500"/>
            <a:ext cx="10414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御网智元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</a:t>
            </a:r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初审答辩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4/15</a:t>
            </a:r>
            <a:endParaRPr lang="zh-CN" altLang="en-US" sz="1000">
              <a:solidFill>
                <a:srgbClr val="545454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199107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0D0CF71B-7E39-4AAC-0A64-682CE364083D}"/>
              </a:ext>
            </a:extLst>
          </p:cNvPr>
          <p:cNvSpPr/>
          <p:nvPr/>
        </p:nvSpPr>
        <p:spPr>
          <a:xfrm>
            <a:off x="0" y="0"/>
            <a:ext cx="12192000" cy="2286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195102B-900F-701B-F2A9-65170D21D82A}"/>
              </a:ext>
            </a:extLst>
          </p:cNvPr>
          <p:cNvSpPr txBox="1"/>
          <p:nvPr/>
        </p:nvSpPr>
        <p:spPr>
          <a:xfrm>
            <a:off x="762000" y="533400"/>
            <a:ext cx="10668000" cy="53860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黄金案例绑定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D5F8CB5-F6BF-4CFA-47DC-9D5E462175DE}"/>
              </a:ext>
            </a:extLst>
          </p:cNvPr>
          <p:cNvSpPr txBox="1"/>
          <p:nvPr/>
        </p:nvSpPr>
        <p:spPr>
          <a:xfrm>
            <a:off x="825500" y="1676400"/>
            <a:ext cx="6350000" cy="92333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case_id + case_version +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目标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/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请求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/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附件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SHA-256 +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授权摘要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+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工具快照摘要。</a:t>
            </a:r>
          </a:p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相似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Run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不匹配即拒绝评分。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5AD8B57-D25E-3253-A9DD-5E892510C46F}"/>
              </a:ext>
            </a:extLst>
          </p:cNvPr>
          <p:cNvSpPr/>
          <p:nvPr/>
        </p:nvSpPr>
        <p:spPr>
          <a:xfrm>
            <a:off x="762000" y="5943600"/>
            <a:ext cx="10668000" cy="254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12B48B5-12D2-9432-BD22-287CE67C8CD0}"/>
              </a:ext>
            </a:extLst>
          </p:cNvPr>
          <p:cNvSpPr txBox="1"/>
          <p:nvPr/>
        </p:nvSpPr>
        <p:spPr>
          <a:xfrm>
            <a:off x="825500" y="6159500"/>
            <a:ext cx="10414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证据：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GoldenCaseBinding</a:t>
            </a:r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；未绑定 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Run </a:t>
            </a:r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拒绝回归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EF9E7C0-7310-13A8-7117-AC7598B9DE3E}"/>
              </a:ext>
            </a:extLst>
          </p:cNvPr>
          <p:cNvSpPr txBox="1"/>
          <p:nvPr/>
        </p:nvSpPr>
        <p:spPr>
          <a:xfrm>
            <a:off x="825500" y="6667500"/>
            <a:ext cx="10414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御网智元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</a:t>
            </a:r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初审答辩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5/15</a:t>
            </a:r>
            <a:endParaRPr lang="zh-CN" altLang="en-US" sz="1000">
              <a:solidFill>
                <a:srgbClr val="545454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112924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13B7FDEB-CB0D-2A31-B084-5D157C30D42A}"/>
              </a:ext>
            </a:extLst>
          </p:cNvPr>
          <p:cNvSpPr/>
          <p:nvPr/>
        </p:nvSpPr>
        <p:spPr>
          <a:xfrm>
            <a:off x="0" y="0"/>
            <a:ext cx="12192000" cy="2286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61357D9-608C-D4A7-1B78-7966F04E0FEA}"/>
              </a:ext>
            </a:extLst>
          </p:cNvPr>
          <p:cNvSpPr txBox="1"/>
          <p:nvPr/>
        </p:nvSpPr>
        <p:spPr>
          <a:xfrm>
            <a:off x="762000" y="533400"/>
            <a:ext cx="10668000" cy="53860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案例 </a:t>
            </a:r>
            <a:r>
              <a:rPr lang="en-US" altLang="zh-CN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A</a:t>
            </a:r>
            <a:r>
              <a:rPr lang="zh-CN" altLang="en-US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：最终验证闭环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D077E68-BE37-0B5E-93E1-6511FDB66EF1}"/>
              </a:ext>
            </a:extLst>
          </p:cNvPr>
          <p:cNvSpPr txBox="1"/>
          <p:nvPr/>
        </p:nvSpPr>
        <p:spPr>
          <a:xfrm>
            <a:off x="825500" y="1676400"/>
            <a:ext cx="6350000" cy="92333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Agent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必须真实调用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FlagCandidateVerifyTool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。</a:t>
            </a:r>
          </a:p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未调用即拒绝完成并回到重规划；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Judge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核验候选哈希与工具结果。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E287458-38AB-0B6D-6AA3-ED298112776D}"/>
              </a:ext>
            </a:extLst>
          </p:cNvPr>
          <p:cNvSpPr/>
          <p:nvPr/>
        </p:nvSpPr>
        <p:spPr>
          <a:xfrm>
            <a:off x="762000" y="5943600"/>
            <a:ext cx="10668000" cy="254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B553A71-D15F-54C4-046B-8A3229FC44BC}"/>
              </a:ext>
            </a:extLst>
          </p:cNvPr>
          <p:cNvSpPr txBox="1"/>
          <p:nvPr/>
        </p:nvSpPr>
        <p:spPr>
          <a:xfrm>
            <a:off x="825500" y="6159500"/>
            <a:ext cx="10414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证据：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A manifest</a:t>
            </a:r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；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AgentEngine</a:t>
            </a:r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；私有 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Judge</a:t>
            </a:r>
            <a:endParaRPr lang="zh-CN" altLang="en-US" sz="1100">
              <a:solidFill>
                <a:srgbClr val="545454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F059785-1AA6-4EF1-7778-F3EFE478CF42}"/>
              </a:ext>
            </a:extLst>
          </p:cNvPr>
          <p:cNvSpPr txBox="1"/>
          <p:nvPr/>
        </p:nvSpPr>
        <p:spPr>
          <a:xfrm>
            <a:off x="825500" y="6667500"/>
            <a:ext cx="10414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御网智元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</a:t>
            </a:r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初审答辩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6/15</a:t>
            </a:r>
            <a:endParaRPr lang="zh-CN" altLang="en-US" sz="1000">
              <a:solidFill>
                <a:srgbClr val="545454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398417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191AFD65-9F8D-23DD-5A1C-A2E332F76D5B}"/>
              </a:ext>
            </a:extLst>
          </p:cNvPr>
          <p:cNvSpPr/>
          <p:nvPr/>
        </p:nvSpPr>
        <p:spPr>
          <a:xfrm>
            <a:off x="0" y="0"/>
            <a:ext cx="12192000" cy="2286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D4C91A2-D0ED-59B1-1658-D0696655D0E2}"/>
              </a:ext>
            </a:extLst>
          </p:cNvPr>
          <p:cNvSpPr txBox="1"/>
          <p:nvPr/>
        </p:nvSpPr>
        <p:spPr>
          <a:xfrm>
            <a:off x="762000" y="533400"/>
            <a:ext cx="10668000" cy="53860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案例 </a:t>
            </a:r>
            <a:r>
              <a:rPr lang="en-US" altLang="zh-CN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B</a:t>
            </a:r>
            <a:r>
              <a:rPr lang="zh-CN" altLang="en-US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：本地 </a:t>
            </a:r>
            <a:r>
              <a:rPr lang="en-US" altLang="zh-CN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Web </a:t>
            </a:r>
            <a:r>
              <a:rPr lang="zh-CN" altLang="en-US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线索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B15EFAE-6454-7643-1E98-FE1DF3EA3462}"/>
              </a:ext>
            </a:extLst>
          </p:cNvPr>
          <p:cNvSpPr txBox="1"/>
          <p:nvPr/>
        </p:nvSpPr>
        <p:spPr>
          <a:xfrm>
            <a:off x="825500" y="1676400"/>
            <a:ext cx="6350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仅允许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localhost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与冻结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URL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范围。</a:t>
            </a:r>
          </a:p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按动态线索选择受控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HTTP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证据和解析工具。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8077EA5-9FB1-0309-3FAB-F2DE4BDC3B97}"/>
              </a:ext>
            </a:extLst>
          </p:cNvPr>
          <p:cNvSpPr/>
          <p:nvPr/>
        </p:nvSpPr>
        <p:spPr>
          <a:xfrm>
            <a:off x="762000" y="5943600"/>
            <a:ext cx="10668000" cy="254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5BA935E-8A50-ECCB-6CD2-0FC151CE6951}"/>
              </a:ext>
            </a:extLst>
          </p:cNvPr>
          <p:cNvSpPr txBox="1"/>
          <p:nvPr/>
        </p:nvSpPr>
        <p:spPr>
          <a:xfrm>
            <a:off x="825500" y="6159500"/>
            <a:ext cx="10414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证据：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B manifest</a:t>
            </a:r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；本地 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Web lab</a:t>
            </a:r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；解码链证据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9B7C921-3162-2D5D-1AA2-BB8FDFE27569}"/>
              </a:ext>
            </a:extLst>
          </p:cNvPr>
          <p:cNvSpPr txBox="1"/>
          <p:nvPr/>
        </p:nvSpPr>
        <p:spPr>
          <a:xfrm>
            <a:off x="825500" y="6667500"/>
            <a:ext cx="10414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御网智元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</a:t>
            </a:r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初审答辩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7/15</a:t>
            </a:r>
            <a:endParaRPr lang="zh-CN" altLang="en-US" sz="1000">
              <a:solidFill>
                <a:srgbClr val="545454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830799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CDB839EA-9B28-0FE6-B931-C3D63F5390C6}"/>
              </a:ext>
            </a:extLst>
          </p:cNvPr>
          <p:cNvSpPr/>
          <p:nvPr/>
        </p:nvSpPr>
        <p:spPr>
          <a:xfrm>
            <a:off x="0" y="0"/>
            <a:ext cx="12192000" cy="2286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8B1BC295-3349-D6C2-92CC-633FF23175B0}"/>
              </a:ext>
            </a:extLst>
          </p:cNvPr>
          <p:cNvSpPr txBox="1"/>
          <p:nvPr/>
        </p:nvSpPr>
        <p:spPr>
          <a:xfrm>
            <a:off x="762000" y="533400"/>
            <a:ext cx="10668000" cy="53860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案例 </a:t>
            </a:r>
            <a:r>
              <a:rPr lang="en-US" altLang="zh-CN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C</a:t>
            </a:r>
            <a:r>
              <a:rPr lang="zh-CN" altLang="en-US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：注入后安全恢复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EC9787C-7A45-3319-3BA5-86CBB40D8FFA}"/>
              </a:ext>
            </a:extLst>
          </p:cNvPr>
          <p:cNvSpPr txBox="1"/>
          <p:nvPr/>
        </p:nvSpPr>
        <p:spPr>
          <a:xfrm>
            <a:off x="825500" y="1676400"/>
            <a:ext cx="6350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先识别并拒绝注入影响；再用附件检查工具完成授权摘要。</a:t>
            </a:r>
          </a:p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不补写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safety.recovered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，摘要绑定真实工具证据。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D72D510-85F9-BD42-1F6F-28B9F6E08D96}"/>
              </a:ext>
            </a:extLst>
          </p:cNvPr>
          <p:cNvSpPr/>
          <p:nvPr/>
        </p:nvSpPr>
        <p:spPr>
          <a:xfrm>
            <a:off x="762000" y="5943600"/>
            <a:ext cx="10668000" cy="254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C222351-1349-0467-A295-F2EC150D6FB6}"/>
              </a:ext>
            </a:extLst>
          </p:cNvPr>
          <p:cNvSpPr txBox="1"/>
          <p:nvPr/>
        </p:nvSpPr>
        <p:spPr>
          <a:xfrm>
            <a:off x="825500" y="6159500"/>
            <a:ext cx="10414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证据：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C manifest</a:t>
            </a:r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；注入安全回归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A4D03A1-4D8C-E5E7-65F2-514CB0337406}"/>
              </a:ext>
            </a:extLst>
          </p:cNvPr>
          <p:cNvSpPr txBox="1"/>
          <p:nvPr/>
        </p:nvSpPr>
        <p:spPr>
          <a:xfrm>
            <a:off x="825500" y="6667500"/>
            <a:ext cx="10414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御网智元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</a:t>
            </a:r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初审答辩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8/15</a:t>
            </a:r>
            <a:endParaRPr lang="zh-CN" altLang="en-US" sz="1000">
              <a:solidFill>
                <a:srgbClr val="545454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780018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6FE001D-1116-4B1E-566E-C29AE3B346CA}"/>
              </a:ext>
            </a:extLst>
          </p:cNvPr>
          <p:cNvSpPr/>
          <p:nvPr/>
        </p:nvSpPr>
        <p:spPr>
          <a:xfrm>
            <a:off x="0" y="0"/>
            <a:ext cx="12192000" cy="2286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97ACB7A-108F-D2AD-F6F1-CC4DD204F421}"/>
              </a:ext>
            </a:extLst>
          </p:cNvPr>
          <p:cNvSpPr txBox="1"/>
          <p:nvPr/>
        </p:nvSpPr>
        <p:spPr>
          <a:xfrm>
            <a:off x="762000" y="533400"/>
            <a:ext cx="10668000" cy="53860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解释与复现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9015E80-8662-60BE-F46E-8BBD001C60C6}"/>
              </a:ext>
            </a:extLst>
          </p:cNvPr>
          <p:cNvSpPr txBox="1"/>
          <p:nvPr/>
        </p:nvSpPr>
        <p:spPr>
          <a:xfrm>
            <a:off x="825500" y="1676400"/>
            <a:ext cx="6350000" cy="92333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公开事件、参数摘要、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Artifact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引用和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Judge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理由组成可追溯路径。</a:t>
            </a:r>
          </a:p>
          <a:p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Judge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配置不进入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Agent Prompt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EDB38F6-6FA3-4BF1-D634-87AA7A105A25}"/>
              </a:ext>
            </a:extLst>
          </p:cNvPr>
          <p:cNvSpPr/>
          <p:nvPr/>
        </p:nvSpPr>
        <p:spPr>
          <a:xfrm>
            <a:off x="762000" y="5943600"/>
            <a:ext cx="10668000" cy="254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52375ED-020E-B966-9ADE-EC303667AAF6}"/>
              </a:ext>
            </a:extLst>
          </p:cNvPr>
          <p:cNvSpPr txBox="1"/>
          <p:nvPr/>
        </p:nvSpPr>
        <p:spPr>
          <a:xfrm>
            <a:off x="825500" y="6159500"/>
            <a:ext cx="10414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证据：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trajectory / report / evaluation index</a:t>
            </a:r>
            <a:endParaRPr lang="zh-CN" altLang="en-US" sz="1100">
              <a:solidFill>
                <a:srgbClr val="545454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EE73C77-431F-C5C9-FA23-24E2CDDA9A3B}"/>
              </a:ext>
            </a:extLst>
          </p:cNvPr>
          <p:cNvSpPr txBox="1"/>
          <p:nvPr/>
        </p:nvSpPr>
        <p:spPr>
          <a:xfrm>
            <a:off x="825500" y="6667500"/>
            <a:ext cx="10414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御网智元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</a:t>
            </a:r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初审答辩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9/15</a:t>
            </a:r>
            <a:endParaRPr lang="zh-CN" altLang="en-US" sz="1000">
              <a:solidFill>
                <a:srgbClr val="545454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803836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1430C6AB-3354-F036-CD33-FA88E07A4F73}"/>
              </a:ext>
            </a:extLst>
          </p:cNvPr>
          <p:cNvSpPr/>
          <p:nvPr/>
        </p:nvSpPr>
        <p:spPr>
          <a:xfrm>
            <a:off x="0" y="0"/>
            <a:ext cx="12192000" cy="2286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45AF361-B1C8-B55C-037D-73D5440F3C0E}"/>
              </a:ext>
            </a:extLst>
          </p:cNvPr>
          <p:cNvSpPr txBox="1"/>
          <p:nvPr/>
        </p:nvSpPr>
        <p:spPr>
          <a:xfrm>
            <a:off x="762000" y="533400"/>
            <a:ext cx="10668000" cy="53860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工具协同与扩展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74407B0-BF7B-9B6D-0D89-BDDD71C50FFF}"/>
              </a:ext>
            </a:extLst>
          </p:cNvPr>
          <p:cNvSpPr txBox="1"/>
          <p:nvPr/>
        </p:nvSpPr>
        <p:spPr>
          <a:xfrm>
            <a:off x="825500" y="1676400"/>
            <a:ext cx="6350000" cy="92333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ToolSpec/Registry/Executor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统一输入、风险、超时和审计契约。</a:t>
            </a:r>
          </a:p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内置、插件与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MCP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遵循同一边界。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A3758DF-CCA2-4E7B-B4E2-D8D1C5DBD869}"/>
              </a:ext>
            </a:extLst>
          </p:cNvPr>
          <p:cNvSpPr/>
          <p:nvPr/>
        </p:nvSpPr>
        <p:spPr>
          <a:xfrm>
            <a:off x="762000" y="5943600"/>
            <a:ext cx="10668000" cy="254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F11BC10-EE04-73F1-8F57-CE48213CA789}"/>
              </a:ext>
            </a:extLst>
          </p:cNvPr>
          <p:cNvSpPr txBox="1"/>
          <p:nvPr/>
        </p:nvSpPr>
        <p:spPr>
          <a:xfrm>
            <a:off x="825500" y="6159500"/>
            <a:ext cx="10414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证据：工具契约测试；风险审批策略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649F73D-69E6-6DA9-2004-777623307E92}"/>
              </a:ext>
            </a:extLst>
          </p:cNvPr>
          <p:cNvSpPr txBox="1"/>
          <p:nvPr/>
        </p:nvSpPr>
        <p:spPr>
          <a:xfrm>
            <a:off x="825500" y="6667500"/>
            <a:ext cx="10414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御网智元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</a:t>
            </a:r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初审答辩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10/15</a:t>
            </a:r>
            <a:endParaRPr lang="zh-CN" altLang="en-US" sz="1000">
              <a:solidFill>
                <a:srgbClr val="545454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827727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A9B2BB89-04BF-6D2E-DC23-89AAB12F5CAC}"/>
              </a:ext>
            </a:extLst>
          </p:cNvPr>
          <p:cNvSpPr/>
          <p:nvPr/>
        </p:nvSpPr>
        <p:spPr>
          <a:xfrm>
            <a:off x="0" y="0"/>
            <a:ext cx="12192000" cy="2286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95072FB-1B08-7BEE-852C-A08E118605AC}"/>
              </a:ext>
            </a:extLst>
          </p:cNvPr>
          <p:cNvSpPr txBox="1"/>
          <p:nvPr/>
        </p:nvSpPr>
        <p:spPr>
          <a:xfrm>
            <a:off x="762000" y="533400"/>
            <a:ext cx="10668000" cy="53860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上传安全与工作台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D5BEAEC-A7E1-7349-F1C7-8415D30AFBE4}"/>
              </a:ext>
            </a:extLst>
          </p:cNvPr>
          <p:cNvSpPr txBox="1"/>
          <p:nvPr/>
        </p:nvSpPr>
        <p:spPr>
          <a:xfrm>
            <a:off x="825500" y="1676400"/>
            <a:ext cx="6350000" cy="92333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CSV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、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ZIP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、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TAR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均有条目、展开量、压缩比和解析复杂度限额。</a:t>
            </a:r>
          </a:p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真实工作台显示脱敏状态，不含密钥。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05F1D475-F076-9FB7-3923-66F130218C51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3000" y="1600200"/>
            <a:ext cx="4000500" cy="4572000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356D87A6-EDD5-2E69-D763-B9824439D4C9}"/>
              </a:ext>
            </a:extLst>
          </p:cNvPr>
          <p:cNvSpPr/>
          <p:nvPr/>
        </p:nvSpPr>
        <p:spPr>
          <a:xfrm>
            <a:off x="762000" y="5943600"/>
            <a:ext cx="10668000" cy="254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A2B34EF-EB09-E0AC-A8E9-2DF73CC959D1}"/>
              </a:ext>
            </a:extLst>
          </p:cNvPr>
          <p:cNvSpPr txBox="1"/>
          <p:nvPr/>
        </p:nvSpPr>
        <p:spPr>
          <a:xfrm>
            <a:off x="825500" y="6159500"/>
            <a:ext cx="10414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证据：拒绝测试；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Playwright </a:t>
            </a:r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桌面截图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A3060CC-B82D-EAFF-9519-9A48694564B0}"/>
              </a:ext>
            </a:extLst>
          </p:cNvPr>
          <p:cNvSpPr txBox="1"/>
          <p:nvPr/>
        </p:nvSpPr>
        <p:spPr>
          <a:xfrm>
            <a:off x="825500" y="6667500"/>
            <a:ext cx="10414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御网智元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</a:t>
            </a:r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初审答辩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11/15</a:t>
            </a:r>
            <a:endParaRPr lang="zh-CN" altLang="en-US" sz="1000">
              <a:solidFill>
                <a:srgbClr val="545454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259531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867135B9-E452-455C-14CC-E22B48ADBF86}"/>
              </a:ext>
            </a:extLst>
          </p:cNvPr>
          <p:cNvSpPr/>
          <p:nvPr/>
        </p:nvSpPr>
        <p:spPr>
          <a:xfrm>
            <a:off x="0" y="0"/>
            <a:ext cx="12192000" cy="2286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93DBFB3-72E5-E16F-FCD7-226E3236E304}"/>
              </a:ext>
            </a:extLst>
          </p:cNvPr>
          <p:cNvSpPr txBox="1"/>
          <p:nvPr/>
        </p:nvSpPr>
        <p:spPr>
          <a:xfrm>
            <a:off x="762000" y="533400"/>
            <a:ext cx="10668000" cy="53860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移动端可用性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FFB450D-77BC-39B4-195D-DD54FDFA85C8}"/>
              </a:ext>
            </a:extLst>
          </p:cNvPr>
          <p:cNvSpPr txBox="1"/>
          <p:nvPr/>
        </p:nvSpPr>
        <p:spPr>
          <a:xfrm>
            <a:off x="825500" y="1676400"/>
            <a:ext cx="6350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移动端保持场景选择、授权前置与安全边界入口；不以占位页替代实际界面。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7C80730E-ADA2-BA2A-6D6D-95302D81038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3000" y="1600200"/>
            <a:ext cx="4000500" cy="4572000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8B8CF514-7C35-01D0-3F76-33989FE30C6F}"/>
              </a:ext>
            </a:extLst>
          </p:cNvPr>
          <p:cNvSpPr/>
          <p:nvPr/>
        </p:nvSpPr>
        <p:spPr>
          <a:xfrm>
            <a:off x="762000" y="5943600"/>
            <a:ext cx="10668000" cy="254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C1C4207-839D-B251-9A39-811ABEF84015}"/>
              </a:ext>
            </a:extLst>
          </p:cNvPr>
          <p:cNvSpPr txBox="1"/>
          <p:nvPr/>
        </p:nvSpPr>
        <p:spPr>
          <a:xfrm>
            <a:off x="825500" y="6159500"/>
            <a:ext cx="10414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证据：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Playwright </a:t>
            </a:r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移动端截图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26760E4-6F0D-FFC2-2236-584F474A27A6}"/>
              </a:ext>
            </a:extLst>
          </p:cNvPr>
          <p:cNvSpPr txBox="1"/>
          <p:nvPr/>
        </p:nvSpPr>
        <p:spPr>
          <a:xfrm>
            <a:off x="825500" y="6667500"/>
            <a:ext cx="10414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御网智元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</a:t>
            </a:r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初审答辩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12/15</a:t>
            </a:r>
            <a:endParaRPr lang="zh-CN" altLang="en-US" sz="1000">
              <a:solidFill>
                <a:srgbClr val="545454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719877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FE04197F-1F84-6618-1532-C7C891515D51}"/>
              </a:ext>
            </a:extLst>
          </p:cNvPr>
          <p:cNvSpPr/>
          <p:nvPr/>
        </p:nvSpPr>
        <p:spPr>
          <a:xfrm>
            <a:off x="0" y="0"/>
            <a:ext cx="12192000" cy="2286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6FAC30C-2F70-2048-5546-0A12003BB3E3}"/>
              </a:ext>
            </a:extLst>
          </p:cNvPr>
          <p:cNvSpPr txBox="1"/>
          <p:nvPr/>
        </p:nvSpPr>
        <p:spPr>
          <a:xfrm>
            <a:off x="762000" y="533400"/>
            <a:ext cx="10668000" cy="53860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工程与供应链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3AA8B4A-BDF6-BCBF-F7D0-6A07FF0A75B8}"/>
              </a:ext>
            </a:extLst>
          </p:cNvPr>
          <p:cNvSpPr txBox="1"/>
          <p:nvPr/>
        </p:nvSpPr>
        <p:spPr>
          <a:xfrm>
            <a:off x="825500" y="1676400"/>
            <a:ext cx="6350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Docker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全新构建、健康检查、隔离黄金卷、启停诊断脚本。</a:t>
            </a:r>
          </a:p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生产与完整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npm audit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均为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0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漏洞。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B3C31B7-61ED-3E07-8778-912F7C7C5674}"/>
              </a:ext>
            </a:extLst>
          </p:cNvPr>
          <p:cNvSpPr/>
          <p:nvPr/>
        </p:nvSpPr>
        <p:spPr>
          <a:xfrm>
            <a:off x="762000" y="5943600"/>
            <a:ext cx="10668000" cy="254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7D0433B-EAAB-DA8E-D5B4-C9211129880D}"/>
              </a:ext>
            </a:extLst>
          </p:cNvPr>
          <p:cNvSpPr txBox="1"/>
          <p:nvPr/>
        </p:nvSpPr>
        <p:spPr>
          <a:xfrm>
            <a:off x="825500" y="6159500"/>
            <a:ext cx="10414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证据：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full-check</a:t>
            </a:r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；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audit JSON</a:t>
            </a:r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；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undici 7.29.0</a:t>
            </a:r>
            <a:endParaRPr lang="zh-CN" altLang="en-US" sz="1100">
              <a:solidFill>
                <a:srgbClr val="545454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92C7BF6-C511-56FF-4410-E87CC8A1B614}"/>
              </a:ext>
            </a:extLst>
          </p:cNvPr>
          <p:cNvSpPr txBox="1"/>
          <p:nvPr/>
        </p:nvSpPr>
        <p:spPr>
          <a:xfrm>
            <a:off x="825500" y="6667500"/>
            <a:ext cx="10414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御网智元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</a:t>
            </a:r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初审答辩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13/15</a:t>
            </a:r>
            <a:endParaRPr lang="zh-CN" altLang="en-US" sz="1000">
              <a:solidFill>
                <a:srgbClr val="545454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938267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F251D711-0E2F-E01C-A14C-ED435E90F5C3}"/>
              </a:ext>
            </a:extLst>
          </p:cNvPr>
          <p:cNvSpPr/>
          <p:nvPr/>
        </p:nvSpPr>
        <p:spPr>
          <a:xfrm>
            <a:off x="0" y="0"/>
            <a:ext cx="12192000" cy="2286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0B045A2-43B7-F244-DDBD-B4E97E36E9B9}"/>
              </a:ext>
            </a:extLst>
          </p:cNvPr>
          <p:cNvSpPr txBox="1"/>
          <p:nvPr/>
        </p:nvSpPr>
        <p:spPr>
          <a:xfrm>
            <a:off x="762000" y="533400"/>
            <a:ext cx="10668000" cy="53860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真实评测口径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1ED7EBF-83BF-EB89-3484-C7B6291E03CB}"/>
              </a:ext>
            </a:extLst>
          </p:cNvPr>
          <p:cNvSpPr txBox="1"/>
          <p:nvPr/>
        </p:nvSpPr>
        <p:spPr>
          <a:xfrm>
            <a:off x="825500" y="1676400"/>
            <a:ext cx="6350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真实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Provider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三次评测是必需项。独立黄金卷未配置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Provider/Agent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，故未填写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pass@1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、成本或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Token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C935CCC-256E-F5DC-0BD1-7556F078D2E2}"/>
              </a:ext>
            </a:extLst>
          </p:cNvPr>
          <p:cNvSpPr/>
          <p:nvPr/>
        </p:nvSpPr>
        <p:spPr>
          <a:xfrm>
            <a:off x="762000" y="5943600"/>
            <a:ext cx="10668000" cy="254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1FDF996-173B-CFA2-E65D-A76883EB145E}"/>
              </a:ext>
            </a:extLst>
          </p:cNvPr>
          <p:cNvSpPr txBox="1"/>
          <p:nvPr/>
        </p:nvSpPr>
        <p:spPr>
          <a:xfrm>
            <a:off x="825500" y="6159500"/>
            <a:ext cx="10414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证据：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/setup/status</a:t>
            </a:r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；测试与评测报告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3AFCA6C-8C01-7811-57CC-F9DCA249C71A}"/>
              </a:ext>
            </a:extLst>
          </p:cNvPr>
          <p:cNvSpPr txBox="1"/>
          <p:nvPr/>
        </p:nvSpPr>
        <p:spPr>
          <a:xfrm>
            <a:off x="825500" y="6667500"/>
            <a:ext cx="10414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御网智元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</a:t>
            </a:r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初审答辩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14/15</a:t>
            </a:r>
            <a:endParaRPr lang="zh-CN" altLang="en-US" sz="1000">
              <a:solidFill>
                <a:srgbClr val="545454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368642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48DE8ADC-AD9F-F8A5-7BA0-DCA403EB5459}"/>
              </a:ext>
            </a:extLst>
          </p:cNvPr>
          <p:cNvSpPr/>
          <p:nvPr/>
        </p:nvSpPr>
        <p:spPr>
          <a:xfrm>
            <a:off x="0" y="0"/>
            <a:ext cx="12192000" cy="2286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8E56BF8C-E9FF-E288-DCFD-F318BB643D92}"/>
              </a:ext>
            </a:extLst>
          </p:cNvPr>
          <p:cNvSpPr txBox="1"/>
          <p:nvPr/>
        </p:nvSpPr>
        <p:spPr>
          <a:xfrm>
            <a:off x="762000" y="533400"/>
            <a:ext cx="10668000" cy="53860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边界与提交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109A42D-D264-5BC6-3B3B-3B6903CCC21A}"/>
              </a:ext>
            </a:extLst>
          </p:cNvPr>
          <p:cNvSpPr txBox="1"/>
          <p:nvPr/>
        </p:nvSpPr>
        <p:spPr>
          <a:xfrm>
            <a:off x="825500" y="1676400"/>
            <a:ext cx="6350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不做任意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Shell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、公网攻击、外部平台提交或伪造成绩。</a:t>
            </a:r>
          </a:p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配置真实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Provider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后按同一证据链补齐三次数据。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EE0A0F-09EC-876E-4A57-30B63A8BF511}"/>
              </a:ext>
            </a:extLst>
          </p:cNvPr>
          <p:cNvSpPr/>
          <p:nvPr/>
        </p:nvSpPr>
        <p:spPr>
          <a:xfrm>
            <a:off x="762000" y="5943600"/>
            <a:ext cx="10668000" cy="254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30F0761-6E0D-A1EA-CD8D-684088DFF7FB}"/>
              </a:ext>
            </a:extLst>
          </p:cNvPr>
          <p:cNvSpPr txBox="1"/>
          <p:nvPr/>
        </p:nvSpPr>
        <p:spPr>
          <a:xfrm>
            <a:off x="825500" y="6159500"/>
            <a:ext cx="10414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证据：证据矩阵；部署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/</a:t>
            </a:r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用户手册；签章占位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081035B-0CC6-1DF4-32DA-585AE353B01E}"/>
              </a:ext>
            </a:extLst>
          </p:cNvPr>
          <p:cNvSpPr txBox="1"/>
          <p:nvPr/>
        </p:nvSpPr>
        <p:spPr>
          <a:xfrm>
            <a:off x="825500" y="6667500"/>
            <a:ext cx="10414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御网智元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</a:t>
            </a:r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初审答辩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15/15</a:t>
            </a:r>
            <a:endParaRPr lang="zh-CN" altLang="en-US" sz="1000">
              <a:solidFill>
                <a:srgbClr val="545454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543431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1001</Words>
  <Application>Microsoft Office PowerPoint</Application>
  <PresentationFormat>宽屏</PresentationFormat>
  <Paragraphs>73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0" baseType="lpstr">
      <vt:lpstr>等线</vt:lpstr>
      <vt:lpstr>等线 Light</vt:lpstr>
      <vt:lpstr>Aptos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jh c</dc:creator>
  <cp:lastModifiedBy>jh c</cp:lastModifiedBy>
  <cp:revision>1</cp:revision>
  <dcterms:created xsi:type="dcterms:W3CDTF">2026-08-28T14:13:52Z</dcterms:created>
  <dcterms:modified xsi:type="dcterms:W3CDTF">2026-08-28T14:13:52Z</dcterms:modified>
</cp:coreProperties>
</file>